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05FF5EF-DF18-4E1F-ACF1-38895272342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72A72381-1425-43E8-B393-7933FA2608DE}">
          <p14:sldIdLst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428B18-E77D-4B3D-825A-A9DADA56CB4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39D3619-942D-4961-9179-2782E19FCAD6}">
      <dgm:prSet/>
      <dgm:spPr/>
      <dgm:t>
        <a:bodyPr/>
        <a:lstStyle/>
        <a:p>
          <a:r>
            <a:rPr lang="en-US"/>
            <a:t>• Majority of investors belong to Tier-1 cities</a:t>
          </a:r>
        </a:p>
      </dgm:t>
    </dgm:pt>
    <dgm:pt modelId="{3BCC34AD-68C9-4F14-915B-5BEEBE3B2ADA}" type="parTrans" cxnId="{770D71ED-DCCB-4558-8922-1DA451EBDD5E}">
      <dgm:prSet/>
      <dgm:spPr/>
      <dgm:t>
        <a:bodyPr/>
        <a:lstStyle/>
        <a:p>
          <a:endParaRPr lang="en-US"/>
        </a:p>
      </dgm:t>
    </dgm:pt>
    <dgm:pt modelId="{FDF43674-7A6A-4FE0-AAC8-B7B912D23B2C}" type="sibTrans" cxnId="{770D71ED-DCCB-4558-8922-1DA451EBDD5E}">
      <dgm:prSet/>
      <dgm:spPr/>
      <dgm:t>
        <a:bodyPr/>
        <a:lstStyle/>
        <a:p>
          <a:endParaRPr lang="en-US"/>
        </a:p>
      </dgm:t>
    </dgm:pt>
    <dgm:pt modelId="{06701A91-323C-4B14-860A-84099957705F}">
      <dgm:prSet/>
      <dgm:spPr/>
      <dgm:t>
        <a:bodyPr/>
        <a:lstStyle/>
        <a:p>
          <a:r>
            <a:rPr lang="en-US"/>
            <a:t>• Digital payment modes dominate</a:t>
          </a:r>
        </a:p>
      </dgm:t>
    </dgm:pt>
    <dgm:pt modelId="{B3A56138-FC05-4A76-9FB5-7E9E371BC9BC}" type="parTrans" cxnId="{CFF27E07-1EA6-43EE-B71A-87DD44A21F0B}">
      <dgm:prSet/>
      <dgm:spPr/>
      <dgm:t>
        <a:bodyPr/>
        <a:lstStyle/>
        <a:p>
          <a:endParaRPr lang="en-US"/>
        </a:p>
      </dgm:t>
    </dgm:pt>
    <dgm:pt modelId="{100C8F9E-70DC-4A96-91C9-001187DFDC64}" type="sibTrans" cxnId="{CFF27E07-1EA6-43EE-B71A-87DD44A21F0B}">
      <dgm:prSet/>
      <dgm:spPr/>
      <dgm:t>
        <a:bodyPr/>
        <a:lstStyle/>
        <a:p>
          <a:endParaRPr lang="en-US"/>
        </a:p>
      </dgm:t>
    </dgm:pt>
    <dgm:pt modelId="{98975485-829C-4379-8C00-5810F98C63A3}">
      <dgm:prSet/>
      <dgm:spPr/>
      <dgm:t>
        <a:bodyPr/>
        <a:lstStyle/>
        <a:p>
          <a:r>
            <a:rPr lang="en-US"/>
            <a:t>• Investor participation varies across age groups</a:t>
          </a:r>
        </a:p>
      </dgm:t>
    </dgm:pt>
    <dgm:pt modelId="{EC0DC0AC-0144-49B7-BB1F-292A3A04620B}" type="parTrans" cxnId="{E60E26AC-534D-475B-89AE-0AE75E281E6E}">
      <dgm:prSet/>
      <dgm:spPr/>
      <dgm:t>
        <a:bodyPr/>
        <a:lstStyle/>
        <a:p>
          <a:endParaRPr lang="en-US"/>
        </a:p>
      </dgm:t>
    </dgm:pt>
    <dgm:pt modelId="{631D9477-A9C4-4E1E-9432-401F42F9E4E5}" type="sibTrans" cxnId="{E60E26AC-534D-475B-89AE-0AE75E281E6E}">
      <dgm:prSet/>
      <dgm:spPr/>
      <dgm:t>
        <a:bodyPr/>
        <a:lstStyle/>
        <a:p>
          <a:endParaRPr lang="en-US"/>
        </a:p>
      </dgm:t>
    </dgm:pt>
    <dgm:pt modelId="{E5F02509-B9A7-47F4-B1F8-F21F41D636A0}">
      <dgm:prSet/>
      <dgm:spPr/>
      <dgm:t>
        <a:bodyPr/>
        <a:lstStyle/>
        <a:p>
          <a:r>
            <a:rPr lang="en-US"/>
            <a:t>• SIP remains the preferred investment method</a:t>
          </a:r>
        </a:p>
      </dgm:t>
    </dgm:pt>
    <dgm:pt modelId="{C702A276-C5B6-4F40-AF16-E11780C0BC39}" type="parTrans" cxnId="{9920C6FA-640D-4520-8E0B-17CC17C3AC22}">
      <dgm:prSet/>
      <dgm:spPr/>
      <dgm:t>
        <a:bodyPr/>
        <a:lstStyle/>
        <a:p>
          <a:endParaRPr lang="en-US"/>
        </a:p>
      </dgm:t>
    </dgm:pt>
    <dgm:pt modelId="{585E468C-75C7-413C-A067-EB544C36E536}" type="sibTrans" cxnId="{9920C6FA-640D-4520-8E0B-17CC17C3AC22}">
      <dgm:prSet/>
      <dgm:spPr/>
      <dgm:t>
        <a:bodyPr/>
        <a:lstStyle/>
        <a:p>
          <a:endParaRPr lang="en-US"/>
        </a:p>
      </dgm:t>
    </dgm:pt>
    <dgm:pt modelId="{A926B5B9-B4E7-4EA2-8FA4-7C41AF3154EF}" type="pres">
      <dgm:prSet presAssocID="{0D428B18-E77D-4B3D-825A-A9DADA56CB42}" presName="matrix" presStyleCnt="0">
        <dgm:presLayoutVars>
          <dgm:chMax val="1"/>
          <dgm:dir/>
          <dgm:resizeHandles val="exact"/>
        </dgm:presLayoutVars>
      </dgm:prSet>
      <dgm:spPr/>
    </dgm:pt>
    <dgm:pt modelId="{4C106B37-05FE-41EC-B7BF-7E7A73CB0C31}" type="pres">
      <dgm:prSet presAssocID="{0D428B18-E77D-4B3D-825A-A9DADA56CB42}" presName="diamond" presStyleLbl="bgShp" presStyleIdx="0" presStyleCnt="1"/>
      <dgm:spPr/>
    </dgm:pt>
    <dgm:pt modelId="{423C44C2-E88D-49CA-85F7-A3D2C4441427}" type="pres">
      <dgm:prSet presAssocID="{0D428B18-E77D-4B3D-825A-A9DADA56CB4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814FDA9-CC88-460B-9F86-568D682EBAAF}" type="pres">
      <dgm:prSet presAssocID="{0D428B18-E77D-4B3D-825A-A9DADA56CB4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AA08B0-EAF8-4857-89F5-53430388F160}" type="pres">
      <dgm:prSet presAssocID="{0D428B18-E77D-4B3D-825A-A9DADA56CB4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911693-ED80-48AD-8945-ECAB3B59364A}" type="pres">
      <dgm:prSet presAssocID="{0D428B18-E77D-4B3D-825A-A9DADA56CB4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FF27E07-1EA6-43EE-B71A-87DD44A21F0B}" srcId="{0D428B18-E77D-4B3D-825A-A9DADA56CB42}" destId="{06701A91-323C-4B14-860A-84099957705F}" srcOrd="1" destOrd="0" parTransId="{B3A56138-FC05-4A76-9FB5-7E9E371BC9BC}" sibTransId="{100C8F9E-70DC-4A96-91C9-001187DFDC64}"/>
    <dgm:cxn modelId="{6AF96E14-251B-4428-B936-302B82A8A695}" type="presOf" srcId="{0D428B18-E77D-4B3D-825A-A9DADA56CB42}" destId="{A926B5B9-B4E7-4EA2-8FA4-7C41AF3154EF}" srcOrd="0" destOrd="0" presId="urn:microsoft.com/office/officeart/2005/8/layout/matrix3"/>
    <dgm:cxn modelId="{6EF84F1A-307A-446A-89FF-8E02EAE0B29B}" type="presOf" srcId="{E5F02509-B9A7-47F4-B1F8-F21F41D636A0}" destId="{AA911693-ED80-48AD-8945-ECAB3B59364A}" srcOrd="0" destOrd="0" presId="urn:microsoft.com/office/officeart/2005/8/layout/matrix3"/>
    <dgm:cxn modelId="{0D52A954-80F3-43FF-8F6D-D0F452F6FD3D}" type="presOf" srcId="{839D3619-942D-4961-9179-2782E19FCAD6}" destId="{423C44C2-E88D-49CA-85F7-A3D2C4441427}" srcOrd="0" destOrd="0" presId="urn:microsoft.com/office/officeart/2005/8/layout/matrix3"/>
    <dgm:cxn modelId="{06D19777-D3D0-41CD-B931-F0094DC2A301}" type="presOf" srcId="{06701A91-323C-4B14-860A-84099957705F}" destId="{C814FDA9-CC88-460B-9F86-568D682EBAAF}" srcOrd="0" destOrd="0" presId="urn:microsoft.com/office/officeart/2005/8/layout/matrix3"/>
    <dgm:cxn modelId="{E60E26AC-534D-475B-89AE-0AE75E281E6E}" srcId="{0D428B18-E77D-4B3D-825A-A9DADA56CB42}" destId="{98975485-829C-4379-8C00-5810F98C63A3}" srcOrd="2" destOrd="0" parTransId="{EC0DC0AC-0144-49B7-BB1F-292A3A04620B}" sibTransId="{631D9477-A9C4-4E1E-9432-401F42F9E4E5}"/>
    <dgm:cxn modelId="{F1CAAABA-27A2-4B3D-BB85-1E328C1F5A40}" type="presOf" srcId="{98975485-829C-4379-8C00-5810F98C63A3}" destId="{AFAA08B0-EAF8-4857-89F5-53430388F160}" srcOrd="0" destOrd="0" presId="urn:microsoft.com/office/officeart/2005/8/layout/matrix3"/>
    <dgm:cxn modelId="{770D71ED-DCCB-4558-8922-1DA451EBDD5E}" srcId="{0D428B18-E77D-4B3D-825A-A9DADA56CB42}" destId="{839D3619-942D-4961-9179-2782E19FCAD6}" srcOrd="0" destOrd="0" parTransId="{3BCC34AD-68C9-4F14-915B-5BEEBE3B2ADA}" sibTransId="{FDF43674-7A6A-4FE0-AAC8-B7B912D23B2C}"/>
    <dgm:cxn modelId="{9920C6FA-640D-4520-8E0B-17CC17C3AC22}" srcId="{0D428B18-E77D-4B3D-825A-A9DADA56CB42}" destId="{E5F02509-B9A7-47F4-B1F8-F21F41D636A0}" srcOrd="3" destOrd="0" parTransId="{C702A276-C5B6-4F40-AF16-E11780C0BC39}" sibTransId="{585E468C-75C7-413C-A067-EB544C36E536}"/>
    <dgm:cxn modelId="{43AF7F9E-B61B-4AD3-8546-0FC43566B721}" type="presParOf" srcId="{A926B5B9-B4E7-4EA2-8FA4-7C41AF3154EF}" destId="{4C106B37-05FE-41EC-B7BF-7E7A73CB0C31}" srcOrd="0" destOrd="0" presId="urn:microsoft.com/office/officeart/2005/8/layout/matrix3"/>
    <dgm:cxn modelId="{872993B4-DAEC-4B50-B36E-5F456F8B59FE}" type="presParOf" srcId="{A926B5B9-B4E7-4EA2-8FA4-7C41AF3154EF}" destId="{423C44C2-E88D-49CA-85F7-A3D2C4441427}" srcOrd="1" destOrd="0" presId="urn:microsoft.com/office/officeart/2005/8/layout/matrix3"/>
    <dgm:cxn modelId="{B16987FD-3BF8-41BA-984C-E572E312BCAB}" type="presParOf" srcId="{A926B5B9-B4E7-4EA2-8FA4-7C41AF3154EF}" destId="{C814FDA9-CC88-460B-9F86-568D682EBAAF}" srcOrd="2" destOrd="0" presId="urn:microsoft.com/office/officeart/2005/8/layout/matrix3"/>
    <dgm:cxn modelId="{582C5ECC-F075-44A4-81EC-2569F27F2277}" type="presParOf" srcId="{A926B5B9-B4E7-4EA2-8FA4-7C41AF3154EF}" destId="{AFAA08B0-EAF8-4857-89F5-53430388F160}" srcOrd="3" destOrd="0" presId="urn:microsoft.com/office/officeart/2005/8/layout/matrix3"/>
    <dgm:cxn modelId="{4BAF39E9-EA5F-4D24-A370-024F00F802B2}" type="presParOf" srcId="{A926B5B9-B4E7-4EA2-8FA4-7C41AF3154EF}" destId="{AA911693-ED80-48AD-8945-ECAB3B59364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06B37-05FE-41EC-B7BF-7E7A73CB0C31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C44C2-E88D-49CA-85F7-A3D2C4441427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Majority of investors belong to Tier-1 cities</a:t>
          </a:r>
        </a:p>
      </dsp:txBody>
      <dsp:txXfrm>
        <a:off x="1011204" y="630714"/>
        <a:ext cx="1946396" cy="1946396"/>
      </dsp:txXfrm>
    </dsp:sp>
    <dsp:sp modelId="{C814FDA9-CC88-460B-9F86-568D682EBAAF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Digital payment modes dominate</a:t>
          </a:r>
        </a:p>
      </dsp:txBody>
      <dsp:txXfrm>
        <a:off x="3334113" y="630714"/>
        <a:ext cx="1946396" cy="1946396"/>
      </dsp:txXfrm>
    </dsp:sp>
    <dsp:sp modelId="{AFAA08B0-EAF8-4857-89F5-53430388F160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Investor participation varies across age groups</a:t>
          </a:r>
        </a:p>
      </dsp:txBody>
      <dsp:txXfrm>
        <a:off x="1011204" y="2953623"/>
        <a:ext cx="1946396" cy="1946396"/>
      </dsp:txXfrm>
    </dsp:sp>
    <dsp:sp modelId="{AA911693-ED80-48AD-8945-ECAB3B59364A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SIP remains the preferred investment method</a:t>
          </a:r>
        </a:p>
      </dsp:txBody>
      <dsp:txXfrm>
        <a:off x="3334113" y="2953623"/>
        <a:ext cx="1946396" cy="1946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5D02C-F5FF-4693-A023-12FFDD9ADEB1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151A7-45BB-474F-AD39-91A029AD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3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151A7-45BB-474F-AD39-91A029ADE14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5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5EC4-A924-D79C-3DA4-9A8AE262E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FDAC4-D917-E2BD-BA30-C8EC48B58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48035-6BC0-9A98-114E-8894A850E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14FF9-C4C1-BF42-FF9F-9FA91BBD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A8A41-EB5F-9DD5-0711-3F560AA0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72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4AB2-CC5B-CB6C-A140-2CE7962A6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D9434-B9C6-693C-C955-1B22E451B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B0856-895D-3ABF-776C-10B8C92A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C5515-C037-0C7F-D3CD-A68EC9BE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C7022-C7C0-6350-87F2-7704EB59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29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2969B-EC2B-91A3-CA8F-04AA6675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2A611-A164-8B7F-BE55-844BF3D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E44C1-B8C7-8B39-42A1-1ABC8D3F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32D46-27E7-BE4B-AE29-E2FE9A1B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B555-8CE9-6918-14D6-2D77A3A2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7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0949-3FBA-30C0-5C72-C9F9599EB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FA08-8576-37BA-A61E-D57720594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111C5-1320-DF5F-40DE-9C3770F72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0150F-B64F-E669-18ED-8E412960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C7C87-1607-B4BE-62B2-67E657AD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7E32B-C6C5-1A3C-5019-6AE72C0A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1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808A-E485-1644-CCC4-35E1343A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938F7-B924-8B9D-BD9F-421CBAD74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3A481-E9FF-03D5-32E1-AEFE0B896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A51C1-7BA6-8702-E683-870ED7931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4FED6-339F-4ACC-0848-6C487B07F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5521C-F634-3A9F-A361-A3FC1DA6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59EE6-FB36-C631-FF90-6167773B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87900-034A-802C-0374-2ACF8CF2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56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BE87F-3AA2-8C36-4521-F2868547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C6D56-04FB-9129-CCFB-84AF8813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6E6FC-6FED-55D0-30D7-2BDCCFDF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A34C7-68CF-DBBE-B35F-0C7ABD62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8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BB91C-629B-C99A-3983-A3FAD05A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BDF29-B8F5-63CC-79B2-237AC5C4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18858-0124-0374-0728-6D418FE3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32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9B38F-E96C-4B35-AD96-E2DB63DC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FA57E-D687-CB38-2C2B-A51E9058D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598D5-3F18-6DC0-BD6D-EDAE87131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1737A-F15A-D463-C44A-A97B8A59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769D2-8A1C-6C00-4516-54620A46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1226C-CC6E-F896-C7DE-7D8DE137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7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7643-E13A-9A12-E0DF-FD2D5BC0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C4E2B-738F-45D4-45E5-B5AED603E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095B8-6C10-81A4-8DE5-EBB3E6D29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233B4-4BD7-3547-654A-C8B9A50F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D27C0-198E-9B90-3081-8005EBAD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CDC5F-B783-E94D-4251-906BABF3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35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A0EDF-BEF4-615B-F0EF-FD616284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EF239-503A-4D71-0B2E-453BECBC3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28280-EBAD-B030-A1A2-62432794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1CD4A-F025-F4B3-2A95-5ED0488F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6AC09-4250-592E-9BA0-4D00FA7B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27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AD46F-F510-AA47-BF5E-42C3BD08B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968A3-0AEA-C67C-E25F-7FF2F9A74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22B4-F351-8ED9-9311-BAAAF9E8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A3FD4-BD0E-8FBD-EFAA-8FE24750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0E5E2-E58F-3A4C-D564-5518C607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4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7EE24-8999-B050-DB5A-055B040A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66C60-7FAF-6328-3ACD-D7BB74EFD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EDD3D-AE48-6320-4867-B9AF3A402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294E7-D422-4256-BC3B-F656A21D093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1D277-A171-1E6F-1D2B-4B716A53E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0C37-B174-31E8-2737-53612E1C2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BB247-460B-46FF-90A0-1B6EBFAF9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57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FDC28-A9CD-C20C-309A-71C032454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4200" b="1"/>
              <a:t>Bluestock Mutual Fund Analytics Capstone Project</a:t>
            </a:r>
            <a:br>
              <a:rPr lang="en-IN" sz="4200" b="1"/>
            </a:br>
            <a:endParaRPr lang="en-IN" sz="4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3BAF5-0E4C-5501-0AB3-77BF12F107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sz="1500"/>
              <a:t>End-to-End Mutual Fund Analytics Solution</a:t>
            </a:r>
          </a:p>
          <a:p>
            <a:pPr algn="l"/>
            <a:r>
              <a:rPr lang="en-US" sz="1500"/>
              <a:t>Using Python, SQL, Power BI &amp; Advanced Analytics</a:t>
            </a:r>
          </a:p>
          <a:p>
            <a:pPr algn="l"/>
            <a:r>
              <a:rPr lang="en-IN" sz="1500"/>
              <a:t>Karan Taynak</a:t>
            </a:r>
          </a:p>
          <a:p>
            <a:pPr algn="l"/>
            <a:r>
              <a:rPr lang="en-IN" sz="1500"/>
              <a:t>Data Analyst Intern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iniature bull and bear percentages on a paper printed with the stock price list">
            <a:extLst>
              <a:ext uri="{FF2B5EF4-FFF2-40B4-BE49-F238E27FC236}">
                <a16:creationId xmlns:a16="http://schemas.microsoft.com/office/drawing/2014/main" id="{8CF5C5BC-291E-7571-54A8-F7E2C9C4B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17" r="15355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055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9A69A-4BB2-9B23-2BC5-CEDA627E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/>
              <a:t>Business Problem &amp; Objective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551B6F5-7B47-739C-38F4-E8D2300B2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300" b="1"/>
              <a:t>Problem Statement:</a:t>
            </a:r>
            <a:endParaRPr lang="en-US" sz="1300" b="1"/>
          </a:p>
          <a:p>
            <a:r>
              <a:rPr lang="en-US" sz="1300"/>
              <a:t>Investors and fund managers need a data-driven way to evaluate</a:t>
            </a:r>
          </a:p>
          <a:p>
            <a:r>
              <a:rPr lang="en-US" sz="1300"/>
              <a:t>mutual fund performance, investor behavior, portfolio risk,</a:t>
            </a:r>
          </a:p>
          <a:p>
            <a:r>
              <a:rPr lang="en-US" sz="1300"/>
              <a:t>and SIP trends.</a:t>
            </a:r>
          </a:p>
          <a:p>
            <a:r>
              <a:rPr lang="en-US" sz="1300"/>
              <a:t>Large volumes of fund and investor data make manual analysis difficult.</a:t>
            </a:r>
          </a:p>
          <a:p>
            <a:pPr marL="0" indent="0">
              <a:buNone/>
            </a:pPr>
            <a:endParaRPr lang="en-IN" sz="1300"/>
          </a:p>
          <a:p>
            <a:pPr marL="0" indent="0">
              <a:buNone/>
            </a:pPr>
            <a:r>
              <a:rPr lang="en-IN" sz="1300" b="1"/>
              <a:t>Objectives</a:t>
            </a:r>
          </a:p>
          <a:p>
            <a:pPr marL="0" indent="0">
              <a:buNone/>
            </a:pPr>
            <a:r>
              <a:rPr lang="en-US" sz="1300"/>
              <a:t>• Build an end-to-end analytics pipeline</a:t>
            </a:r>
          </a:p>
          <a:p>
            <a:pPr marL="0" indent="0">
              <a:buNone/>
            </a:pPr>
            <a:r>
              <a:rPr lang="en-US" sz="1300"/>
              <a:t>• Analyze fund performance</a:t>
            </a:r>
          </a:p>
          <a:p>
            <a:pPr marL="0" indent="0">
              <a:buNone/>
            </a:pPr>
            <a:r>
              <a:rPr lang="en-US" sz="1300"/>
              <a:t>• Study investor behavior</a:t>
            </a:r>
          </a:p>
          <a:p>
            <a:pPr marL="0" indent="0">
              <a:buNone/>
            </a:pPr>
            <a:r>
              <a:rPr lang="en-US" sz="1300"/>
              <a:t>• Measure portfolio risk</a:t>
            </a:r>
          </a:p>
          <a:p>
            <a:pPr marL="0" indent="0">
              <a:buNone/>
            </a:pPr>
            <a:r>
              <a:rPr lang="en-US" sz="1300"/>
              <a:t>• Create interactive dashboards</a:t>
            </a:r>
          </a:p>
          <a:p>
            <a:pPr marL="0" indent="0">
              <a:buNone/>
            </a:pPr>
            <a:r>
              <a:rPr lang="en-US" sz="1300"/>
              <a:t>• Generate actionable business insights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6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ECF76-08CE-99BC-4AAE-CDE9120C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A250-0E1F-E96A-7844-9096156EC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1500" b="1"/>
              <a:t>Datasets Used:</a:t>
            </a:r>
          </a:p>
          <a:p>
            <a:pPr marL="0" indent="0">
              <a:buNone/>
            </a:pPr>
            <a:r>
              <a:rPr lang="en-IN" sz="1500"/>
              <a:t>1. Mutual Fund Master Data</a:t>
            </a:r>
          </a:p>
          <a:p>
            <a:pPr marL="0" indent="0">
              <a:buNone/>
            </a:pPr>
            <a:r>
              <a:rPr lang="en-IN" sz="1500"/>
              <a:t>2. NAV History</a:t>
            </a:r>
          </a:p>
          <a:p>
            <a:pPr marL="0" indent="0">
              <a:buNone/>
            </a:pPr>
            <a:r>
              <a:rPr lang="en-IN" sz="1500"/>
              <a:t>3. Portfolio Holdings</a:t>
            </a:r>
          </a:p>
          <a:p>
            <a:pPr marL="0" indent="0">
              <a:buNone/>
            </a:pPr>
            <a:r>
              <a:rPr lang="en-IN" sz="1500"/>
              <a:t>4. Investor Transactions</a:t>
            </a:r>
          </a:p>
          <a:p>
            <a:pPr marL="0" indent="0">
              <a:buNone/>
            </a:pPr>
            <a:r>
              <a:rPr lang="en-IN" sz="1500"/>
              <a:t>5. SIP Transactions</a:t>
            </a:r>
          </a:p>
          <a:p>
            <a:pPr marL="0" indent="0">
              <a:buNone/>
            </a:pPr>
            <a:r>
              <a:rPr lang="en-IN" sz="1500"/>
              <a:t>6. Industry Folio Data</a:t>
            </a:r>
          </a:p>
          <a:p>
            <a:pPr marL="0" indent="0">
              <a:buNone/>
            </a:pPr>
            <a:r>
              <a:rPr lang="en-IN" sz="1500"/>
              <a:t>7. Benchmark </a:t>
            </a:r>
            <a:r>
              <a:rPr lang="en-IN" sz="1500" i="1"/>
              <a:t>Data</a:t>
            </a:r>
          </a:p>
          <a:p>
            <a:pPr marL="0" indent="0">
              <a:buNone/>
            </a:pPr>
            <a:endParaRPr lang="en-IN" sz="1500" i="1"/>
          </a:p>
          <a:p>
            <a:pPr marL="0" indent="0">
              <a:buNone/>
            </a:pPr>
            <a:r>
              <a:rPr lang="en-IN" sz="1500" b="1"/>
              <a:t>Data Volume:</a:t>
            </a:r>
          </a:p>
          <a:p>
            <a:pPr marL="0" indent="0">
              <a:buNone/>
            </a:pPr>
            <a:r>
              <a:rPr lang="en-US" sz="1500"/>
              <a:t>5000 Investors</a:t>
            </a:r>
          </a:p>
          <a:p>
            <a:pPr marL="0" indent="0">
              <a:buNone/>
            </a:pPr>
            <a:r>
              <a:rPr lang="en-US" sz="1500"/>
              <a:t>40 Mutual Funds</a:t>
            </a:r>
          </a:p>
          <a:p>
            <a:pPr marL="0" indent="0">
              <a:buNone/>
            </a:pPr>
            <a:r>
              <a:rPr lang="en-US" sz="1500"/>
              <a:t>Thousands of Transactions</a:t>
            </a:r>
          </a:p>
          <a:p>
            <a:pPr marL="0" indent="0">
              <a:buNone/>
            </a:pPr>
            <a:r>
              <a:rPr lang="en-US" sz="1500"/>
              <a:t>Multiple Years of NAV History</a:t>
            </a:r>
            <a:endParaRPr lang="en-IN" sz="1500"/>
          </a:p>
          <a:p>
            <a:pPr marL="0" indent="0">
              <a:buNone/>
            </a:pPr>
            <a:endParaRPr lang="en-IN" sz="1500" i="1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66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E84DB-767B-1718-AA08-87E7964D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IN" sz="3600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6CE2-AD40-1CFF-9C8B-1A6909EC9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000" b="1"/>
              <a:t>Work Flow</a:t>
            </a:r>
          </a:p>
          <a:p>
            <a:pPr marL="0" indent="0">
              <a:buNone/>
            </a:pPr>
            <a:r>
              <a:rPr lang="en-IN" sz="1000"/>
              <a:t>Raw Data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Data Cleaning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Feature Engineering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EDA Analysis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Performance Analytics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Advanced Analytics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Power BI Dashboard</a:t>
            </a:r>
          </a:p>
          <a:p>
            <a:pPr marL="0" indent="0">
              <a:buNone/>
            </a:pPr>
            <a:r>
              <a:rPr lang="en-IN" sz="1000"/>
              <a:t>    ↓</a:t>
            </a:r>
          </a:p>
          <a:p>
            <a:pPr marL="0" indent="0">
              <a:buNone/>
            </a:pPr>
            <a:r>
              <a:rPr lang="en-IN" sz="1000"/>
              <a:t>Business Insights</a:t>
            </a:r>
          </a:p>
          <a:p>
            <a:pPr marL="0" indent="0">
              <a:buNone/>
            </a:pPr>
            <a:endParaRPr lang="en-IN" sz="1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6CBDD-37FA-AA36-F631-10A3B5180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2926080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/>
              <a:t>Tools Used</a:t>
            </a:r>
          </a:p>
          <a:p>
            <a:pPr marL="0" indent="0">
              <a:buNone/>
            </a:pPr>
            <a:endParaRPr lang="en-IN" sz="2000"/>
          </a:p>
          <a:p>
            <a:pPr marL="0" indent="0">
              <a:buNone/>
            </a:pPr>
            <a:r>
              <a:rPr lang="en-IN" sz="2000"/>
              <a:t>Python</a:t>
            </a:r>
          </a:p>
          <a:p>
            <a:pPr marL="0" indent="0">
              <a:buNone/>
            </a:pPr>
            <a:r>
              <a:rPr lang="en-IN" sz="2000"/>
              <a:t>Pandas</a:t>
            </a:r>
          </a:p>
          <a:p>
            <a:pPr marL="0" indent="0">
              <a:buNone/>
            </a:pPr>
            <a:r>
              <a:rPr lang="en-IN" sz="2000"/>
              <a:t>NumPy</a:t>
            </a:r>
          </a:p>
          <a:p>
            <a:pPr marL="0" indent="0">
              <a:buNone/>
            </a:pPr>
            <a:r>
              <a:rPr lang="en-IN" sz="2000"/>
              <a:t>Matplotlib</a:t>
            </a:r>
          </a:p>
          <a:p>
            <a:pPr marL="0" indent="0">
              <a:buNone/>
            </a:pPr>
            <a:r>
              <a:rPr lang="en-IN" sz="2000"/>
              <a:t>SQL</a:t>
            </a:r>
          </a:p>
          <a:p>
            <a:pPr marL="0" indent="0">
              <a:buNone/>
            </a:pPr>
            <a:r>
              <a:rPr lang="en-IN" sz="2000"/>
              <a:t>Power BI</a:t>
            </a:r>
          </a:p>
          <a:p>
            <a:pPr marL="0" indent="0">
              <a:buNone/>
            </a:pPr>
            <a:r>
              <a:rPr lang="en-IN" sz="200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83531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625EAF-8E8C-401B-BA7E-8EFAA33E1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/>
              <a:t>EDA Highlights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5491155-564D-DB84-DE27-04A83400B0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16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FCB219-21C9-FD30-FC90-A2E40805C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000"/>
              <a:t>• Equity funds dominate AUM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000"/>
              <a:t>• Large variation in fund returns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000"/>
              <a:t>• Some funds show significantly higher Sharpe Ratios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000"/>
              <a:t>• Expense ratios vary across categories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0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000"/>
              <a:t>• Fund scores help identify top-performing schemes</a:t>
            </a:r>
          </a:p>
        </p:txBody>
      </p:sp>
    </p:spTree>
    <p:extLst>
      <p:ext uri="{BB962C8B-B14F-4D97-AF65-F5344CB8AC3E}">
        <p14:creationId xmlns:p14="http://schemas.microsoft.com/office/powerpoint/2010/main" val="139970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3EB27-FB19-EB3C-A928-426DA8846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Investor Analytics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0530D76-CE4C-6950-81DA-2F7D6719C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83910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62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E46FF-0FD6-0CDF-31D9-A3E9F016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Performance Analytics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59FAD-9DF6-5EDF-2E40-A3EB4460C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000" b="1"/>
              <a:t>Fund Performance Metrics</a:t>
            </a:r>
          </a:p>
          <a:p>
            <a:r>
              <a:rPr lang="en-US" sz="2000"/>
              <a:t>Sharpe Ratio</a:t>
            </a:r>
          </a:p>
          <a:p>
            <a:r>
              <a:rPr lang="en-US" sz="2000"/>
              <a:t>Alpha</a:t>
            </a:r>
          </a:p>
          <a:p>
            <a:r>
              <a:rPr lang="en-US" sz="2000"/>
              <a:t>Beta</a:t>
            </a:r>
          </a:p>
          <a:p>
            <a:r>
              <a:rPr lang="en-US" sz="2000"/>
              <a:t>Max Drawdown</a:t>
            </a:r>
          </a:p>
          <a:p>
            <a:r>
              <a:rPr lang="en-US" sz="2000"/>
              <a:t>Fund Score</a:t>
            </a:r>
          </a:p>
          <a:p>
            <a:pPr marL="0" indent="0">
              <a:buNone/>
            </a:pPr>
            <a:r>
              <a:rPr lang="en-IN" sz="2000" b="1"/>
              <a:t>Insights</a:t>
            </a:r>
          </a:p>
          <a:p>
            <a:pPr marL="0" indent="0">
              <a:buNone/>
            </a:pPr>
            <a:r>
              <a:rPr lang="en-US" sz="2000"/>
              <a:t>• Top funds consistently show high Sharpe ratios</a:t>
            </a:r>
          </a:p>
          <a:p>
            <a:pPr marL="0" indent="0">
              <a:buNone/>
            </a:pPr>
            <a:r>
              <a:rPr lang="en-US" sz="2000"/>
              <a:t>• Lower drawdowns contribute to better scores</a:t>
            </a:r>
          </a:p>
          <a:p>
            <a:pPr marL="0" indent="0">
              <a:buNone/>
            </a:pPr>
            <a:r>
              <a:rPr lang="en-US" sz="2000"/>
              <a:t>• Alpha provides additional return generation</a:t>
            </a:r>
            <a:endParaRPr lang="en-IN" sz="20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16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70DB-2467-C3B0-03CC-9C67EA06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Advanced Analytics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3A4E4D-37B9-F914-1C9D-B6F878EBC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14" y="1781291"/>
            <a:ext cx="6449549" cy="322477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24D6A-70F1-1D88-944F-5B4A62DC9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10285" y="2533476"/>
            <a:ext cx="344351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Risk Analytics: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Historical VaR (95%)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Conditional VaR (CVaR)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Rolling Sharpe Ratio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Sector Concentration (HHI)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Benefits: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Better risk assessment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Improved fund comparison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041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BDD9A-3E85-D5DE-9BCF-090CBBA28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961C3-952C-90BC-AC89-A3CA24808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Features: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Market Trends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AUM Analysis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Category Distribution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b="1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/>
              <a:t>Industry Insights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8DF37E-5076-E14B-229B-BB84DE120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BC9C99-E465-B535-22C2-DC2E42B74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0" r="14256" b="-2"/>
          <a:stretch>
            <a:fillRect/>
          </a:stretch>
        </p:blipFill>
        <p:spPr>
          <a:xfrm>
            <a:off x="477508" y="484632"/>
            <a:ext cx="4263147" cy="3454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D0FC96-17BE-C7B9-C8C4-10F0FF443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4" r="16330" b="1"/>
          <a:stretch>
            <a:fillRect/>
          </a:stretch>
        </p:blipFill>
        <p:spPr>
          <a:xfrm>
            <a:off x="477508" y="4108589"/>
            <a:ext cx="3863611" cy="2241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519A25-A9F4-0C72-429A-3BC52BBA3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9" r="17087" b="-2"/>
          <a:stretch>
            <a:fillRect/>
          </a:stretch>
        </p:blipFill>
        <p:spPr>
          <a:xfrm>
            <a:off x="4901523" y="484631"/>
            <a:ext cx="6811737" cy="586833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E5390C0-EA28-456A-8C95-1CDB808E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4117" y="4108589"/>
            <a:ext cx="1526538" cy="2245817"/>
          </a:xfrm>
          <a:prstGeom prst="rect">
            <a:avLst/>
          </a:prstGeom>
          <a:solidFill>
            <a:srgbClr val="6B676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9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40C206-F6EF-AD98-96F3-EB22BC7A4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310A89C-0C1F-E590-CB7F-7562905AE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sz="2000"/>
              <a:t>1. High Sharpe Ratio funds deliver superior risk-adjusted returns.</a:t>
            </a:r>
          </a:p>
          <a:p>
            <a:endParaRPr lang="en-US" sz="2000"/>
          </a:p>
          <a:p>
            <a:r>
              <a:rPr lang="en-US" sz="2000"/>
              <a:t>2. Certain funds show elevated </a:t>
            </a:r>
            <a:r>
              <a:rPr lang="en-US" sz="2000" err="1"/>
              <a:t>VaR</a:t>
            </a:r>
            <a:r>
              <a:rPr lang="en-US" sz="2000"/>
              <a:t> and require risk monitoring.</a:t>
            </a:r>
          </a:p>
          <a:p>
            <a:endParaRPr lang="en-US" sz="2000"/>
          </a:p>
          <a:p>
            <a:r>
              <a:rPr lang="en-US" sz="2000"/>
              <a:t>3. Most investors prefer SIP-based investing.</a:t>
            </a:r>
          </a:p>
          <a:p>
            <a:endParaRPr lang="en-US" sz="2000"/>
          </a:p>
          <a:p>
            <a:r>
              <a:rPr lang="en-US" sz="2000"/>
              <a:t>4. Tier-1 cities contribute the majority of investments.</a:t>
            </a:r>
          </a:p>
          <a:p>
            <a:endParaRPr lang="en-US" sz="2000"/>
          </a:p>
          <a:p>
            <a:r>
              <a:rPr lang="en-US" sz="2000"/>
              <a:t>5. Portfolio concentration varies significantly across funds.</a:t>
            </a:r>
            <a:endParaRPr lang="en-IN" sz="20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84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BCEB1-0DDF-E249-FDF9-7DF378CF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441D-E0F8-E0DB-8F84-C8B515CD2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IN" sz="2200" b="1" dirty="0"/>
              <a:t>Project Summary</a:t>
            </a:r>
          </a:p>
          <a:p>
            <a:r>
              <a:rPr lang="en-IN" sz="2200" dirty="0"/>
              <a:t>✔ ETL Pipeline Developed</a:t>
            </a:r>
          </a:p>
          <a:p>
            <a:endParaRPr lang="en-IN" sz="2200" dirty="0"/>
          </a:p>
          <a:p>
            <a:r>
              <a:rPr lang="en-IN" sz="2200" dirty="0"/>
              <a:t>✔ Exploratory Data Analysis Completed</a:t>
            </a:r>
          </a:p>
          <a:p>
            <a:endParaRPr lang="en-IN" sz="2200" dirty="0"/>
          </a:p>
          <a:p>
            <a:r>
              <a:rPr lang="en-IN" sz="2200" dirty="0"/>
              <a:t>✔ Advanced Analytics Implemented</a:t>
            </a:r>
          </a:p>
          <a:p>
            <a:endParaRPr lang="en-IN" sz="2200" dirty="0"/>
          </a:p>
          <a:p>
            <a:r>
              <a:rPr lang="en-IN" sz="2200" dirty="0"/>
              <a:t>✔ Interactive Power BI Dashboard Created</a:t>
            </a:r>
          </a:p>
          <a:p>
            <a:endParaRPr lang="en-IN" sz="2200" dirty="0"/>
          </a:p>
          <a:p>
            <a:r>
              <a:rPr lang="en-IN" sz="2200" dirty="0"/>
              <a:t>✔ Business Insights Generated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808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417</Words>
  <Application>Microsoft Office PowerPoint</Application>
  <PresentationFormat>Widescreen</PresentationFormat>
  <Paragraphs>127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Bluestock Mutual Fund Analytics Capstone Project </vt:lpstr>
      <vt:lpstr>Business Problem &amp; Objective</vt:lpstr>
      <vt:lpstr>Data Sources</vt:lpstr>
      <vt:lpstr>Project Architecture</vt:lpstr>
      <vt:lpstr>EDA Highlights</vt:lpstr>
      <vt:lpstr>Investor Analytics</vt:lpstr>
      <vt:lpstr>Performance Analytics</vt:lpstr>
      <vt:lpstr>Advanced Analytics</vt:lpstr>
      <vt:lpstr>Dashboard Overview</vt:lpstr>
      <vt:lpstr>PowerPoint Presentation</vt:lpstr>
      <vt:lpstr>Key Business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Taynak</dc:creator>
  <cp:lastModifiedBy>Karan Taynak</cp:lastModifiedBy>
  <cp:revision>1</cp:revision>
  <dcterms:created xsi:type="dcterms:W3CDTF">2026-06-11T14:25:13Z</dcterms:created>
  <dcterms:modified xsi:type="dcterms:W3CDTF">2026-06-11T14:59:54Z</dcterms:modified>
</cp:coreProperties>
</file>